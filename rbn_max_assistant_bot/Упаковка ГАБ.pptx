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1" r:id="rId4"/>
    <p:sldId id="261" r:id="rId5"/>
    <p:sldId id="272" r:id="rId6"/>
    <p:sldId id="262" r:id="rId7"/>
    <p:sldId id="273" r:id="rId8"/>
    <p:sldId id="263" r:id="rId9"/>
    <p:sldId id="264" r:id="rId10"/>
    <p:sldId id="274" r:id="rId11"/>
    <p:sldId id="266" r:id="rId12"/>
    <p:sldId id="267" r:id="rId13"/>
    <p:sldId id="268" r:id="rId14"/>
    <p:sldId id="276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90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54864" cy="51435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2560320" cy="31089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A2D4A"/>
                </a:solidFill>
              </a:rPr>
              <a:t>ОБУЧЕНИЕ АГЕНТОВ · РБН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943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Упаковка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объекта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ГАБ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8C96A"/>
                </a:solidFill>
              </a:rPr>
              <a:t>от показа помещения — к роли инвест-консультанта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0" y="1097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5A7"/>
                </a:solidFill>
              </a:rPr>
              <a:t>Коммерческая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895A7"/>
                </a:solidFill>
              </a:rPr>
              <a:t>недвижимость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2011680"/>
            <a:ext cx="1737360" cy="0"/>
          </a:xfrm>
          <a:prstGeom prst="line">
            <a:avLst/>
          </a:prstGeom>
          <a:noFill/>
          <a:ln w="12700">
            <a:solidFill>
              <a:srgbClr val="C8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1488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Все сегменты: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офисы · торговля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склады · стрит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A84B"/>
                </a:solidFill>
              </a:rPr>
              <a:t>ЧТО ТАКОЕ ГАБ И ПОЧЕМУ ЭТО ДРУГОЙ ПРОДУКТ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23774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D4A"/>
                </a:solidFill>
              </a:rPr>
              <a:t>ГАБ — Готовый Арендный Бизнес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5A7"/>
                </a:solidFill>
              </a:rPr>
              <a:t>Объект с действующим арендатором,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95A7"/>
                </a:solidFill>
              </a:rPr>
              <a:t>оформленным договором и прогнозируемым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95A7"/>
                </a:solidFill>
              </a:rPr>
              <a:t>денежным потоком.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95A7"/>
                </a:solidFill>
              </a:rPr>
              <a:t>Инвестор покупает не квадратные метры —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95A7"/>
                </a:solidFill>
              </a:rPr>
              <a:t>он покупает доходность.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64008" cy="7132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7"/>
                </a:solidFill>
              </a:rPr>
              <a:t>Горизонт окупаемости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D4A"/>
                </a:solidFill>
              </a:rPr>
              <a:t>7–12 лет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1737360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737360"/>
            <a:ext cx="64008" cy="7132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83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7"/>
                </a:solidFill>
              </a:rPr>
              <a:t>Доходность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0848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D4A"/>
                </a:solidFill>
              </a:rPr>
              <a:t>8–14% годовых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09160" y="2560320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60320"/>
            <a:ext cx="64008" cy="7132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606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7"/>
                </a:solidFill>
              </a:rPr>
              <a:t>Ключевой критерий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9077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D4A"/>
                </a:solidFill>
              </a:rPr>
              <a:t>Арендатор + договор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8493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56431"/>
            <a:ext cx="8412480" cy="1234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D4A"/>
                </a:solidFill>
              </a:rPr>
              <a:t>Инвестор покупает = Доходность + Надёжность + </a:t>
            </a:r>
            <a:r>
              <a:rPr lang="en-US" sz="1500" b="1" dirty="0" err="1">
                <a:solidFill>
                  <a:srgbClr val="1A2D4A"/>
                </a:solidFill>
              </a:rPr>
              <a:t>Прозрачность</a:t>
            </a:r>
            <a:br>
              <a:rPr lang="ru-RU" sz="1500" b="1" dirty="0">
                <a:solidFill>
                  <a:srgbClr val="1A2D4A"/>
                </a:solidFill>
              </a:rPr>
            </a:br>
            <a:r>
              <a:rPr lang="en-US" sz="1600" b="1" dirty="0" err="1">
                <a:solidFill>
                  <a:srgbClr val="1A2340"/>
                </a:solidFill>
              </a:rPr>
              <a:t>Продавать</a:t>
            </a:r>
            <a:r>
              <a:rPr lang="en-US" sz="1600" b="1" dirty="0">
                <a:solidFill>
                  <a:srgbClr val="1A2340"/>
                </a:solidFill>
              </a:rPr>
              <a:t> ГАБ = </a:t>
            </a:r>
            <a:r>
              <a:rPr lang="en-US" sz="1600" b="1" dirty="0" err="1">
                <a:solidFill>
                  <a:srgbClr val="1A2340"/>
                </a:solidFill>
              </a:rPr>
              <a:t>продавать</a:t>
            </a:r>
            <a:r>
              <a:rPr lang="en-US" sz="1600" b="1" dirty="0">
                <a:solidFill>
                  <a:srgbClr val="1A2340"/>
                </a:solidFill>
              </a:rPr>
              <a:t> </a:t>
            </a:r>
            <a:r>
              <a:rPr lang="en-US" sz="1600" b="1" dirty="0" err="1">
                <a:solidFill>
                  <a:srgbClr val="1A2340"/>
                </a:solidFill>
              </a:rPr>
              <a:t>инвестиционное</a:t>
            </a:r>
            <a:r>
              <a:rPr lang="en-US" sz="1600" b="1" dirty="0">
                <a:solidFill>
                  <a:srgbClr val="1A2340"/>
                </a:solidFill>
              </a:rPr>
              <a:t> </a:t>
            </a:r>
            <a:r>
              <a:rPr lang="en-US" sz="1600" b="1" dirty="0" err="1">
                <a:solidFill>
                  <a:srgbClr val="1A2340"/>
                </a:solidFill>
              </a:rPr>
              <a:t>решение</a:t>
            </a:r>
            <a:r>
              <a:rPr lang="en-US" sz="1600" b="1" dirty="0">
                <a:solidFill>
                  <a:srgbClr val="1A2340"/>
                </a:solidFill>
              </a:rPr>
              <a:t>. </a:t>
            </a:r>
            <a:r>
              <a:rPr lang="en-US" sz="1600" b="1" dirty="0" err="1">
                <a:solidFill>
                  <a:srgbClr val="1A2340"/>
                </a:solidFill>
              </a:rPr>
              <a:t>Это</a:t>
            </a:r>
            <a:r>
              <a:rPr lang="en-US" sz="1600" b="1" dirty="0">
                <a:solidFill>
                  <a:srgbClr val="1A2340"/>
                </a:solidFill>
              </a:rPr>
              <a:t> </a:t>
            </a:r>
            <a:r>
              <a:rPr lang="en-US" sz="1600" b="1" dirty="0" err="1">
                <a:solidFill>
                  <a:srgbClr val="1A2340"/>
                </a:solidFill>
              </a:rPr>
              <a:t>требует</a:t>
            </a:r>
            <a:r>
              <a:rPr lang="en-US" sz="1600" b="1" dirty="0">
                <a:solidFill>
                  <a:srgbClr val="1A2340"/>
                </a:solidFill>
              </a:rPr>
              <a:t> </a:t>
            </a:r>
            <a:r>
              <a:rPr lang="en-US" sz="1600" b="1" dirty="0" err="1">
                <a:solidFill>
                  <a:srgbClr val="1A2340"/>
                </a:solidFill>
              </a:rPr>
              <a:t>финансового</a:t>
            </a:r>
            <a:r>
              <a:rPr lang="en-US" sz="1600" b="1" dirty="0">
                <a:solidFill>
                  <a:srgbClr val="1A2340"/>
                </a:solidFill>
              </a:rPr>
              <a:t> </a:t>
            </a:r>
            <a:r>
              <a:rPr lang="en-US" sz="1600" b="1" dirty="0" err="1">
                <a:solidFill>
                  <a:srgbClr val="1A2340"/>
                </a:solidFill>
              </a:rPr>
              <a:t>языка</a:t>
            </a:r>
            <a:r>
              <a:rPr lang="en-US" sz="1600" b="1" dirty="0">
                <a:solidFill>
                  <a:srgbClr val="1A2340"/>
                </a:solidFill>
              </a:rPr>
              <a:t>, а </a:t>
            </a:r>
            <a:r>
              <a:rPr lang="en-US" sz="1600" b="1" dirty="0" err="1">
                <a:solidFill>
                  <a:srgbClr val="1A2340"/>
                </a:solidFill>
              </a:rPr>
              <a:t>не</a:t>
            </a:r>
            <a:r>
              <a:rPr lang="en-US" sz="1600" b="1" dirty="0">
                <a:solidFill>
                  <a:srgbClr val="1A2340"/>
                </a:solidFill>
              </a:rPr>
              <a:t> </a:t>
            </a:r>
            <a:r>
              <a:rPr lang="en-US" sz="1600" b="1" dirty="0" err="1">
                <a:solidFill>
                  <a:srgbClr val="1A2340"/>
                </a:solidFill>
              </a:rPr>
              <a:t>риторики</a:t>
            </a:r>
            <a:r>
              <a:rPr lang="en-US" sz="1600" b="1" dirty="0">
                <a:solidFill>
                  <a:srgbClr val="1A2340"/>
                </a:solidFill>
              </a:rPr>
              <a:t> </a:t>
            </a:r>
            <a:r>
              <a:rPr lang="en-US" sz="1600" b="1" dirty="0" err="1">
                <a:solidFill>
                  <a:srgbClr val="1A2340"/>
                </a:solidFill>
              </a:rPr>
              <a:t>про</a:t>
            </a:r>
            <a:r>
              <a:rPr lang="en-US" sz="1600" b="1" dirty="0">
                <a:solidFill>
                  <a:srgbClr val="1A2340"/>
                </a:solidFill>
              </a:rPr>
              <a:t> «</a:t>
            </a:r>
            <a:r>
              <a:rPr lang="en-US" sz="1600" b="1" dirty="0" err="1">
                <a:solidFill>
                  <a:srgbClr val="1A2340"/>
                </a:solidFill>
              </a:rPr>
              <a:t>хорошее</a:t>
            </a:r>
            <a:r>
              <a:rPr lang="en-US" sz="1600" b="1" dirty="0">
                <a:solidFill>
                  <a:srgbClr val="1A2340"/>
                </a:solidFill>
              </a:rPr>
              <a:t> </a:t>
            </a:r>
            <a:r>
              <a:rPr lang="en-US" sz="1600" b="1" dirty="0" err="1">
                <a:solidFill>
                  <a:srgbClr val="1A2340"/>
                </a:solidFill>
              </a:rPr>
              <a:t>место</a:t>
            </a:r>
            <a:r>
              <a:rPr lang="en-US" sz="1600" b="1" dirty="0">
                <a:solidFill>
                  <a:srgbClr val="1A2340"/>
                </a:solidFill>
              </a:rPr>
              <a:t>».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5A7"/>
                </a:solidFill>
              </a:rPr>
              <a:t>РБН · Упаковка объекта под ГАБ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340"/>
                </a:solidFill>
              </a:rPr>
              <a:t>5 ЭТАПОВ ПОДГОТОВКИ ОБЪЕКТА КАК ГАБ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536192" cy="347472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536192" cy="5029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" y="155448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Аудит объекта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389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Техсостояние, коммуникации, соответствие назначению, статус земли/здания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3392" y="960120"/>
            <a:ext cx="1536192" cy="347472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960120"/>
            <a:ext cx="1536192" cy="5029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9601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66544" y="155448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Аудит арендатора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66544" y="2103120"/>
            <a:ext cx="1389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Финансовая устойчивость, срок договора, индексация, </a:t>
            </a:r>
            <a:r>
              <a:rPr lang="en-US" sz="1100" dirty="0" err="1">
                <a:solidFill>
                  <a:srgbClr val="FFFFFF"/>
                </a:solidFill>
              </a:rPr>
              <a:t>условия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расторжения</a:t>
            </a:r>
            <a:br>
              <a:rPr lang="ru-RU" sz="1100" dirty="0">
                <a:solidFill>
                  <a:srgbClr val="FFFFFF"/>
                </a:solidFill>
              </a:rPr>
            </a:br>
            <a:br>
              <a:rPr lang="ru-RU" sz="1100" dirty="0">
                <a:solidFill>
                  <a:srgbClr val="FFFFFF"/>
                </a:solidFill>
              </a:rPr>
            </a:br>
            <a:r>
              <a:rPr lang="ru-RU" sz="1100" dirty="0">
                <a:solidFill>
                  <a:srgbClr val="FFFFFF"/>
                </a:solidFill>
              </a:rPr>
              <a:t>или</a:t>
            </a:r>
          </a:p>
          <a:p>
            <a:pPr marL="0" indent="0" algn="l">
              <a:buNone/>
            </a:pPr>
            <a:endParaRPr lang="ru-RU" sz="1100" dirty="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ru-RU" sz="1100" dirty="0">
                <a:solidFill>
                  <a:srgbClr val="FFFFFF"/>
                </a:solidFill>
              </a:rPr>
              <a:t>Потенциал: трафик, конкуренты, якоря, почему здесь платят аренду 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12464" y="960120"/>
            <a:ext cx="1536192" cy="347472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12464" y="960120"/>
            <a:ext cx="1536192" cy="5029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9601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85616" y="155448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Юридическая чистота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85616" y="2103120"/>
            <a:ext cx="1389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Правоустанавливающие, обременения, ограничения, согласования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31536" y="960120"/>
            <a:ext cx="1536192" cy="347472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31536" y="960120"/>
            <a:ext cx="1536192" cy="5029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9601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04688" y="155448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Финансовая модель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2103120"/>
            <a:ext cx="1389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NOI, Cap Rate, срок окупаемости, сценарии изменения ставки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50608" y="960120"/>
            <a:ext cx="1536192" cy="347472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960120"/>
            <a:ext cx="1536192" cy="5029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9601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155448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Упаковка досье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2103120"/>
            <a:ext cx="1389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Инвест-меморандум, визуалы, документация — всё в одном пакете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243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РБН · Упаковка объекта под ГАБ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A84B"/>
                </a:solidFill>
              </a:rPr>
              <a:t>ДОСЬЕ НА ОБЪЕКТ: СТРУКТУРА ИНВЕСТ-МЕМОРАНДУМА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64008" cy="1170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96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A"/>
                </a:solidFill>
              </a:rPr>
              <a:t>Паспорт объекта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Адрес, площадь, назначение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Год постройки, конструктив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Фото, планировки, видео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3113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31136"/>
            <a:ext cx="64008" cy="1170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95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A"/>
                </a:solidFill>
              </a:rPr>
              <a:t>Правовой блок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Правоустанавливающие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Обременения, ограничения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Договор аренды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9584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29584"/>
            <a:ext cx="64008" cy="1170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93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A"/>
                </a:solidFill>
              </a:rPr>
              <a:t>Арендатор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1363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Профиль бизнеса, выручка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Срок работы на точке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Риски смены или ухода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3268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32688"/>
            <a:ext cx="64008" cy="1170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996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A"/>
                </a:solidFill>
              </a:rPr>
              <a:t>Финансовый блок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31673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Ставка, индексация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NOI, Cap 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Сценарии доходности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31136"/>
            <a:ext cx="64008" cy="1170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295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A"/>
                </a:solidFill>
              </a:rPr>
              <a:t>Инфраструктура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61518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Локация, трафик, конкуренты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Парковка, доступность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Девелоперские планы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9584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29584"/>
            <a:ext cx="64008" cy="1170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593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A"/>
                </a:solidFill>
              </a:rPr>
              <a:t>Резюме сделки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91363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Запрашиваемая цена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Обоснование оценки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Форма сделки, сроки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5A7"/>
                </a:solidFill>
              </a:rPr>
              <a:t>РБН · Упаковка объекта под ГАБ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8A84B"/>
                </a:solidFill>
              </a:rPr>
              <a:t>ФИНАНСОВАЯ МОДЕЛЬ: ЧТО СЧИТАТЬ И КАК ГОВОРИТЬ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82880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A84B"/>
                </a:solidFill>
              </a:rPr>
              <a:t>NOI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435608"/>
            <a:ext cx="1783080" cy="0"/>
          </a:xfrm>
          <a:prstGeom prst="line">
            <a:avLst/>
          </a:prstGeom>
          <a:noFill/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904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Чистый операционный доход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= Аренда − Расходы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8C96A"/>
                </a:solidFill>
              </a:rPr>
              <a:t>NOI = A − OPEX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1965960" cy="182880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A84B"/>
                </a:solidFill>
              </a:rPr>
              <a:t>Cap Rate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14600" y="1435608"/>
            <a:ext cx="1783080" cy="0"/>
          </a:xfrm>
          <a:prstGeom prst="line">
            <a:avLst/>
          </a:prstGeom>
          <a:noFill/>
          <a:ln w="12700">
            <a:solidFill>
              <a:srgbClr val="C8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4904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Ставка капитализации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= NOI / Стоимость объекта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2402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8C96A"/>
                </a:solidFill>
              </a:rPr>
              <a:t>Cap = NOI / Цена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1965960" cy="182880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A84B"/>
                </a:solidFill>
              </a:rPr>
              <a:t>Окупаемость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1435608"/>
            <a:ext cx="1783080" cy="0"/>
          </a:xfrm>
          <a:prstGeom prst="line">
            <a:avLst/>
          </a:prstGeom>
          <a:noFill/>
          <a:ln w="12700">
            <a:solidFill>
              <a:srgbClr val="C8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4904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Срок возврата инвестиций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= Цена / NOI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2402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8C96A"/>
                </a:solidFill>
              </a:rPr>
              <a:t>T = Цена / NOI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960120"/>
            <a:ext cx="1965960" cy="182880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A84B"/>
                </a:solidFill>
              </a:rPr>
              <a:t>IRR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12280" y="1435608"/>
            <a:ext cx="1783080" cy="0"/>
          </a:xfrm>
          <a:prstGeom prst="line">
            <a:avLst/>
          </a:prstGeom>
          <a:noFill/>
          <a:ln w="12700">
            <a:solidFill>
              <a:srgbClr val="C8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4904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ru-RU" sz="11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ru-RU" sz="1100" dirty="0">
                <a:solidFill>
                  <a:schemeClr val="bg1"/>
                </a:solidFill>
              </a:rPr>
              <a:t>Полная доходность инвестиции за весь период владения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2402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8C96A"/>
                </a:solidFill>
              </a:rPr>
              <a:t>с учётом прироста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7476" y="2926080"/>
            <a:ext cx="8412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83782" y="2926080"/>
            <a:ext cx="73152" cy="15087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Пример расчёта: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19725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▸  Арендная ставка: 120 000 руб/мес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19725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▸  OPEX (расходы): 15 000 руб/мес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319725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▸  NOI: 105 000 руб/мес = 1 260 000 руб/год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39623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▸  Цена объекта: 11 000 000 руб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346576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84B"/>
                </a:solidFill>
              </a:rPr>
              <a:t>▸  Cap Rate: 11,5%  |  Окупаемость: 8,7 лет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D0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РБН · Упаковка объекта под ГАБ</a:t>
            </a:r>
            <a:endParaRPr lang="en-US" sz="1000" dirty="0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C47074E6-F98B-469A-9EEF-60B3E0CEED13}"/>
              </a:ext>
            </a:extLst>
          </p:cNvPr>
          <p:cNvSpPr/>
          <p:nvPr/>
        </p:nvSpPr>
        <p:spPr>
          <a:xfrm>
            <a:off x="6200578" y="3698748"/>
            <a:ext cx="2194560" cy="55778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FF8EF7-5F5B-4939-B562-34C0FE3E2740}"/>
              </a:ext>
            </a:extLst>
          </p:cNvPr>
          <p:cNvSpPr txBox="1"/>
          <p:nvPr/>
        </p:nvSpPr>
        <p:spPr>
          <a:xfrm>
            <a:off x="5008705" y="3640944"/>
            <a:ext cx="4578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1A2D4A"/>
                </a:solidFill>
              </a:rPr>
              <a:t>Ключевая</a:t>
            </a:r>
            <a:r>
              <a:rPr lang="en-US" sz="1800" b="1" dirty="0">
                <a:solidFill>
                  <a:srgbClr val="1A2D4A"/>
                </a:solidFill>
              </a:rPr>
              <a:t> </a:t>
            </a:r>
            <a:r>
              <a:rPr lang="en-US" sz="1800" b="1" dirty="0" err="1">
                <a:solidFill>
                  <a:srgbClr val="1A2D4A"/>
                </a:solidFill>
              </a:rPr>
              <a:t>ставка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2D4A"/>
                </a:solidFill>
              </a:rPr>
              <a:t>ЦБ РФ — 15,5%</a:t>
            </a:r>
            <a:endParaRPr lang="en-US" sz="1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12D3BB-69DD-4554-A0AE-DDA00ECAF0D5}"/>
              </a:ext>
            </a:extLst>
          </p:cNvPr>
          <p:cNvSpPr txBox="1"/>
          <p:nvPr/>
        </p:nvSpPr>
        <p:spPr>
          <a:xfrm>
            <a:off x="594360" y="3736246"/>
            <a:ext cx="7868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1A2D4A"/>
                </a:solidFill>
              </a:rPr>
              <a:t>Инвестор</a:t>
            </a:r>
            <a:r>
              <a:rPr lang="en-US" sz="1800" dirty="0">
                <a:solidFill>
                  <a:srgbClr val="1A2D4A"/>
                </a:solidFill>
              </a:rPr>
              <a:t> </a:t>
            </a:r>
            <a:r>
              <a:rPr lang="en-US" sz="1800" dirty="0" err="1">
                <a:solidFill>
                  <a:srgbClr val="1A2D4A"/>
                </a:solidFill>
              </a:rPr>
              <a:t>сравнивает</a:t>
            </a:r>
            <a:r>
              <a:rPr lang="en-US" sz="1800" dirty="0">
                <a:solidFill>
                  <a:srgbClr val="1A2D4A"/>
                </a:solidFill>
              </a:rPr>
              <a:t> с </a:t>
            </a:r>
            <a:r>
              <a:rPr lang="en-US" sz="1800" dirty="0" err="1">
                <a:solidFill>
                  <a:srgbClr val="1A2D4A"/>
                </a:solidFill>
              </a:rPr>
              <a:t>депозитом</a:t>
            </a:r>
            <a:r>
              <a:rPr lang="ru-RU" sz="1800" dirty="0">
                <a:solidFill>
                  <a:srgbClr val="1A2D4A"/>
                </a:solidFill>
              </a:rPr>
              <a:t> </a:t>
            </a:r>
            <a:r>
              <a:rPr lang="en-US" sz="1800" dirty="0">
                <a:solidFill>
                  <a:srgbClr val="1A2D4A"/>
                </a:solidFill>
              </a:rPr>
              <a:t>(14–16%). </a:t>
            </a:r>
            <a:endParaRPr lang="ru-RU" sz="1800" dirty="0">
              <a:solidFill>
                <a:srgbClr val="1A2D4A"/>
              </a:solidFill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1A2D4A"/>
                </a:solidFill>
              </a:rPr>
              <a:t>Говори</a:t>
            </a:r>
            <a:r>
              <a:rPr lang="en-US" sz="1800" dirty="0">
                <a:solidFill>
                  <a:srgbClr val="1A2D4A"/>
                </a:solidFill>
              </a:rPr>
              <a:t> </a:t>
            </a:r>
            <a:r>
              <a:rPr lang="en-US" sz="1800" dirty="0" err="1">
                <a:solidFill>
                  <a:srgbClr val="1A2D4A"/>
                </a:solidFill>
              </a:rPr>
              <a:t>об</a:t>
            </a:r>
            <a:r>
              <a:rPr lang="en-US" sz="1800" dirty="0">
                <a:solidFill>
                  <a:srgbClr val="1A2D4A"/>
                </a:solidFill>
              </a:rPr>
              <a:t> </a:t>
            </a:r>
            <a:r>
              <a:rPr lang="en-US" sz="1800" dirty="0" err="1">
                <a:solidFill>
                  <a:srgbClr val="1A2D4A"/>
                </a:solidFill>
              </a:rPr>
              <a:t>этом</a:t>
            </a:r>
            <a:r>
              <a:rPr lang="en-US" sz="1800" dirty="0">
                <a:solidFill>
                  <a:srgbClr val="1A2D4A"/>
                </a:solidFill>
              </a:rPr>
              <a:t> </a:t>
            </a:r>
            <a:r>
              <a:rPr lang="en-US" sz="1800" dirty="0" err="1">
                <a:solidFill>
                  <a:srgbClr val="1A2D4A"/>
                </a:solidFill>
              </a:rPr>
              <a:t>первым</a:t>
            </a:r>
            <a:r>
              <a:rPr lang="en-US" sz="1800" dirty="0">
                <a:solidFill>
                  <a:srgbClr val="1A2D4A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D4A"/>
                </a:solidFill>
              </a:rPr>
              <a:t>ТИПОЛОГИЯ ИНВЕСТОРОВ: 5 ПОРТРЕТОВ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2697480" cy="166420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32688"/>
            <a:ext cx="2697480" cy="3474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4A"/>
                </a:solidFill>
              </a:rPr>
              <a:t>Рантье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</a:rPr>
              <a:t>Мотив: Стабильность &gt; доходность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7"/>
                </a:solidFill>
              </a:rPr>
              <a:t>Страх: Арендатор уйдёт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Договор, срок, штрафы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932688"/>
            <a:ext cx="2697480" cy="166420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932688"/>
            <a:ext cx="2697480" cy="3474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9326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4A"/>
                </a:solidFill>
              </a:rPr>
              <a:t>Диверсификатор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73552" y="13533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</a:rPr>
              <a:t>Мотив: Риск/доходность баланс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73552" y="17099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7"/>
                </a:solidFill>
              </a:rPr>
              <a:t>Страх: Переплатить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73552" y="2084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IRR, сценарии, ставка ЦБ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932688"/>
            <a:ext cx="2697480" cy="166420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932688"/>
            <a:ext cx="2697480" cy="3474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9326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4A"/>
                </a:solidFill>
              </a:rPr>
              <a:t>Предприниматель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13533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</a:rPr>
              <a:t>Мотив: Актив под свой бизнес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81344" y="17099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7"/>
                </a:solidFill>
              </a:rPr>
              <a:t>Страх: Операционная сложность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81344" y="2084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2–3 часа в год, покрытие кредита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2697480" cy="166420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34640"/>
            <a:ext cx="2697480" cy="3474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34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4A"/>
                </a:solidFill>
              </a:rPr>
              <a:t>Новичок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2552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</a:rPr>
              <a:t>Мотив: Безопасность и контроль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611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7"/>
                </a:solidFill>
              </a:rPr>
              <a:t>Страх: Обманут все стороны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986784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Прозрачность, не торопить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82112" y="2834640"/>
            <a:ext cx="2697480" cy="166420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82112" y="2834640"/>
            <a:ext cx="2697480" cy="3474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82112" y="2834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4A"/>
                </a:solidFill>
              </a:rPr>
              <a:t>Переговорщик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73552" y="32552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</a:rPr>
              <a:t>Мотив: Тест на устойчивость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73552" y="3611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7"/>
                </a:solidFill>
              </a:rPr>
              <a:t>Страх: Сценарный подход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73552" y="3986784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Держать позицию, цифры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9904" y="2834640"/>
            <a:ext cx="2697480" cy="1664208"/>
          </a:xfrm>
          <a:prstGeom prst="rect">
            <a:avLst/>
          </a:prstGeom>
          <a:solidFill>
            <a:srgbClr val="1E3D5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1344" y="2880360"/>
            <a:ext cx="25146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84B"/>
                </a:solidFill>
              </a:rPr>
              <a:t>Один объект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8A84B"/>
                </a:solidFill>
              </a:rPr>
              <a:t>пять разных историй.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8A84B"/>
                </a:solidFill>
              </a:rPr>
              <a:t>Меняй язык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8A84B"/>
                </a:solidFill>
              </a:rPr>
              <a:t>под логику инвестора.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340"/>
                </a:solidFill>
              </a:rPr>
              <a:t>ПОШАГОВАЯ РАБОТА С ИНВЕСТОРОМ: 6 ШАГОВ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60020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69848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Квалификация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Бюджет, горизонт, цель (пассивный доход/прирост капитала), опыт в инвестициях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697480" cy="160020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82696" y="1069848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67328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Профилирование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2696" y="1508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Какой сегмент, риск-аппетит, ожидаемая доходность. Не показываем всё подряд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960120"/>
            <a:ext cx="2697480" cy="160020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069848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65976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Презентация досье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1344" y="1508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Не экскурсия — разбор инвест-кейса. Цифры первые, объект — иллюстрация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2697480" cy="160020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852928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Работа с возражениями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«Дорого» = покажи Cap Rate. «Арендатор уйдёт» = объясни условия договора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72968" y="2743200"/>
            <a:ext cx="2697480" cy="160020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82696" y="2852928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2696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67328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Проверка и DD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82696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Сопровождай юридический и финансовый due diligence. Не устраняйся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2743200"/>
            <a:ext cx="2697480" cy="160020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81344" y="2852928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65976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84B"/>
                </a:solidFill>
              </a:rPr>
              <a:t>Закрытие и referral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81344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Структурируй сделку. Доволен инвестор → рекомендации новым клиентам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243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РБН · Упаковка объекта под ГАБ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A84B"/>
                </a:solidFill>
              </a:rPr>
              <a:t>СКРИПТ РАЗГОВОРА С ИНВЕСТОРОМ: 8 ШАГОВ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64008" cy="8229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33856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Открытие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1673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5A7"/>
                </a:solidFill>
              </a:rPr>
              <a:t>Позиционируй себя как консультанта, а не продавца объекта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32688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32688"/>
            <a:ext cx="64008" cy="8229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133856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0058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Выявление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31673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5A7"/>
                </a:solidFill>
              </a:rPr>
              <a:t>Задай 5 вопросов: горизонт, активы, доходность vs стабильность, пассивность, страхи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88366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883664"/>
            <a:ext cx="64008" cy="8229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084832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195681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Фиксация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26771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5A7"/>
                </a:solidFill>
              </a:rPr>
              <a:t>«Правильно понимаю: вам важнее стабильность, диапазон 10–11%?»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88366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883664"/>
            <a:ext cx="64008" cy="8229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084832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195681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Подача объекта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226771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5A7"/>
                </a:solidFill>
              </a:rPr>
              <a:t>«Под ваш запрос — один вариант». Пауза. Дай время включиться.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834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834640"/>
            <a:ext cx="64008" cy="8229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035808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29077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Финансы + риски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32186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5A7"/>
                </a:solidFill>
              </a:rPr>
              <a:t>Суть → деньги → арендатор → риски (называй сам!) → сравнение с депозитом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834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34640"/>
            <a:ext cx="64008" cy="8229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035808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94960" y="29077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Проверка интереса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32186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5A7"/>
                </a:solidFill>
              </a:rPr>
              <a:t>«Если смотреть без деталей — сама логика подходит?»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78561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3785616"/>
            <a:ext cx="64008" cy="8229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986784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05840" y="38587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Возражения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05840" y="416966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5A7"/>
                </a:solidFill>
              </a:rPr>
              <a:t>Работаешь с конкретным сомнением, не с общим «дорого»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0" y="378561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785616"/>
            <a:ext cx="64008" cy="8229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92040" y="3986784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394960" y="38587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Следующий шаг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94960" y="416966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5A7"/>
                </a:solidFill>
              </a:rPr>
              <a:t>Закрывай НЕ на сделку — на встречу, документы, расчёт по сценарию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5A7"/>
                </a:solidFill>
              </a:rPr>
              <a:t>РБН · Упаковка объекта под ГАБ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D4A"/>
                </a:solidFill>
              </a:rPr>
              <a:t>ТОП-5 ВОЗРАЖЕНИЙ И КАК РАБОТАТЬ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8503920" cy="676656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32688"/>
            <a:ext cx="2651760" cy="676656"/>
          </a:xfrm>
          <a:prstGeom prst="rect">
            <a:avLst/>
          </a:prstGeom>
          <a:solidFill>
            <a:srgbClr val="192E45"/>
          </a:solidFill>
          <a:ln w="12700">
            <a:solidFill>
              <a:srgbClr val="19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C96A"/>
                </a:solidFill>
              </a:rPr>
              <a:t>«Слишком дорого»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00584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Оценка строится на Cap Rate рынка. Давайте пересчитаем альтернативы — что вы считаете справедливым?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00784"/>
            <a:ext cx="8503920" cy="676656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00784"/>
            <a:ext cx="2651760" cy="676656"/>
          </a:xfrm>
          <a:prstGeom prst="rect">
            <a:avLst/>
          </a:prstGeom>
          <a:solidFill>
            <a:srgbClr val="192E45"/>
          </a:solidFill>
          <a:ln w="12700">
            <a:solidFill>
              <a:srgbClr val="192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00784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C96A"/>
                </a:solidFill>
              </a:rPr>
              <a:t>«Арендатор может уйти»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773936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Договор до [дата], индексация [X]%, штраф при расторжении [сумма]. Риск оцифрован и управляем.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8503920" cy="676656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68880"/>
            <a:ext cx="2651760" cy="676656"/>
          </a:xfrm>
          <a:prstGeom prst="rect">
            <a:avLst/>
          </a:prstGeom>
          <a:solidFill>
            <a:srgbClr val="192E45"/>
          </a:solidFill>
          <a:ln w="12700">
            <a:solidFill>
              <a:srgbClr val="192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68880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C96A"/>
                </a:solidFill>
              </a:rPr>
              <a:t>«Банк даёт 15,5%»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542032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Здесь 11–12% + рост стоимости актива + защита от инфляции. Суммарный IRR выше депозита.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36976"/>
            <a:ext cx="8503920" cy="676656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36976"/>
            <a:ext cx="2651760" cy="676656"/>
          </a:xfrm>
          <a:prstGeom prst="rect">
            <a:avLst/>
          </a:prstGeom>
          <a:solidFill>
            <a:srgbClr val="192E45"/>
          </a:solidFill>
          <a:ln w="12700">
            <a:solidFill>
              <a:srgbClr val="192E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36976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C96A"/>
                </a:solidFill>
              </a:rPr>
              <a:t>«Надо подумать»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3310128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Что конкретно вызывает сомнение — доходность, арендатор, юридика? Хочу понять, где не дал достаточно информации.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05072"/>
            <a:ext cx="8503920" cy="676656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005072"/>
            <a:ext cx="2651760" cy="676656"/>
          </a:xfrm>
          <a:prstGeom prst="rect">
            <a:avLst/>
          </a:prstGeom>
          <a:solidFill>
            <a:srgbClr val="192E45"/>
          </a:solidFill>
          <a:ln w="12700">
            <a:solidFill>
              <a:srgbClr val="192E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05072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C96A"/>
                </a:solidFill>
              </a:rPr>
              <a:t>«Есть дешевле»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4078224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Покажите — сравним Cap Rate, арендаторов, риски. Дешевле часто = выше риск или ниже доходность.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5A7"/>
                </a:solidFill>
              </a:rPr>
              <a:t>Главное: «Надо подумать» — это не отказ. Это запрос на информацию.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A84B"/>
                </a:solidFill>
              </a:rPr>
              <a:t>АГЕНТ-ПОКАЗЧИК vs ИНВЕСТИЦИОННЫЙ КОНСУЛЬТАНТ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371600" cy="365760"/>
          </a:xfrm>
          <a:prstGeom prst="rect">
            <a:avLst/>
          </a:prstGeom>
          <a:solidFill>
            <a:srgbClr val="D0D5E0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914400"/>
            <a:ext cx="3291840" cy="36576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914400"/>
            <a:ext cx="3657600" cy="3657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Критерий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914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 Агент-показчик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40"/>
                </a:solidFill>
              </a:rPr>
              <a:t>🟢  Инвест-консультант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1325880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32588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25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Язык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13716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«Хорошая локация, хороший ремонт»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13716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</a:rPr>
              <a:t>«Cap Rate 11,5%, окупаемость 8,7 лет при текущем арендаторе»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47672"/>
            <a:ext cx="1371600" cy="566928"/>
          </a:xfrm>
          <a:prstGeom prst="rect">
            <a:avLst/>
          </a:prstGeom>
          <a:solidFill>
            <a:srgbClr val="ECEEF2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1947672"/>
            <a:ext cx="3291840" cy="566928"/>
          </a:xfrm>
          <a:prstGeom prst="rect">
            <a:avLst/>
          </a:prstGeom>
          <a:solidFill>
            <a:srgbClr val="ECEEF2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947672"/>
            <a:ext cx="3657600" cy="566928"/>
          </a:xfrm>
          <a:prstGeom prst="rect">
            <a:avLst/>
          </a:prstGeom>
          <a:solidFill>
            <a:srgbClr val="ECEEF2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476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Инструмент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199339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Показ объекта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199339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</a:rPr>
              <a:t>Разбор инвест-меморандума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569464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2569464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569464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569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Позиция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261518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Выполняю заявку собственника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261518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</a:rPr>
              <a:t>Помогаю принять инвестиционное решение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191256"/>
            <a:ext cx="1371600" cy="566928"/>
          </a:xfrm>
          <a:prstGeom prst="rect">
            <a:avLst/>
          </a:prstGeom>
          <a:solidFill>
            <a:srgbClr val="ECEEF2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83080" y="3191256"/>
            <a:ext cx="3291840" cy="566928"/>
          </a:xfrm>
          <a:prstGeom prst="rect">
            <a:avLst/>
          </a:prstGeom>
          <a:solidFill>
            <a:srgbClr val="ECEEF2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0" y="3191256"/>
            <a:ext cx="3657600" cy="566928"/>
          </a:xfrm>
          <a:prstGeom prst="rect">
            <a:avLst/>
          </a:prstGeom>
          <a:solidFill>
            <a:srgbClr val="ECEEF2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912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Возражение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28800" y="323697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«Ну, цена такая, смотрите сами»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323697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</a:rPr>
              <a:t>Анализирует и объясняет логику ценообразования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813048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3080" y="3813048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3813048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130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После сделки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0" y="385876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Исчезает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66360" y="385876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</a:rPr>
              <a:t>Консультирует, собирает referral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D0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РБН · Упаковка объекта под ГАБ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A84B"/>
                </a:solidFill>
              </a:rPr>
              <a:t>ТИПИЧНЫЕ ОШИБКИ АГЕНТОВ ПРИ РАБОТЕ С ГАБ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6400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9669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✗  Продают метры, а не доход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74904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3560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→  Переключай язык: не площадь, а Cap Rate и окупаемость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3268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32688"/>
            <a:ext cx="6400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9669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✗  Не считают реальный NOI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374904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3560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→  Учитывай OPEX, налоги, коммуналку — не только ставку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3113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31136"/>
            <a:ext cx="6400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9514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✗  Игнорируют риски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670048"/>
            <a:ext cx="374904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3405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→  Называй риски первым. Это строит доверие, а не разрушает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3113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31136"/>
            <a:ext cx="6400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29514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✗  Не знают арендатора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670048"/>
            <a:ext cx="374904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73405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→  Изучи бизнес, стаж, финансы арендатора до встречи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29584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29584"/>
            <a:ext cx="6400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93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✗  Нет ответа: «Почему не депозит?»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968496"/>
            <a:ext cx="374904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3250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→  IRR + рост актива + защита капитала &gt; ставке 15,5%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9584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9584"/>
            <a:ext cx="6400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593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✗  Исчезают после сделки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968496"/>
            <a:ext cx="374904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03250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→  Referral — лучший лид. Сделка = начало отношений, не финиш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5A7"/>
                </a:solidFill>
              </a:rPr>
              <a:t>РБН · Упаковка объекта под ГАБ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A84B"/>
                </a:solidFill>
              </a:rPr>
              <a:t>ЮРИДИЧЕСКИЕ РИСКИ: КРАСНЫЕ ФЛАГИ И СТРУКТУРА СДЕЛКИ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Красные флаги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A"/>
                </a:solidFill>
              </a:rPr>
              <a:t>⚠  Ставка аренды значительно выше рынка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54864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A"/>
                </a:solidFill>
              </a:rPr>
              <a:t>⚠  Арендатор — компания без реального бизнеса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31720"/>
            <a:ext cx="54864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A"/>
                </a:solidFill>
              </a:rPr>
              <a:t>⚠  Нет вывески, нет персонала, нет покупателей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54864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A"/>
                </a:solidFill>
              </a:rPr>
              <a:t>⚠  Договор заключён незадолго до продажи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37560"/>
            <a:ext cx="54864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A"/>
                </a:solidFill>
              </a:rPr>
              <a:t>⚠  Собственник уклоняется от встречи с арендатором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40480"/>
            <a:ext cx="54864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A"/>
                </a:solidFill>
              </a:rPr>
              <a:t>⚠  Договор до 11 мес. — не зарегистрирован в Росреестре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93268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A"/>
                </a:solidFill>
              </a:rPr>
              <a:t>Варианты структуры сделки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325880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325880"/>
            <a:ext cx="64008" cy="76809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389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Прямая купля-продажа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Стандарт. Просто, понятно.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221992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221992"/>
            <a:ext cx="64008" cy="76809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Через ООО (доля)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2633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Нет налога продавца, но нужен full DD компании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118104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118104"/>
            <a:ext cx="64008" cy="76809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182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Рассрочка от собственника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3529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Объект в залоге до полного расчёта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4014216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4014216"/>
            <a:ext cx="64008" cy="76809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078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A"/>
                </a:solidFill>
              </a:rPr>
              <a:t>Ипотека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37760" y="4425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</a:rPr>
              <a:t>Коммерческая: 18–22%. Считай NOI vs платёж.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5A7"/>
                </a:solidFill>
              </a:rPr>
              <a:t>РБН · Упаковка объекта под ГАБ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D4A"/>
                </a:solidFill>
              </a:rPr>
              <a:t>МАРКЕТИНГ ГАБ: КАК ОПИСЫВАТЬ И ГДЕ ИСКАТЬ ИНВЕСТОРОВ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A84B"/>
                </a:solidFill>
              </a:rPr>
              <a:t>Структура сильного объявления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56692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463040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4A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463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Главная цифра: «Доходность 12,3% · Окупаемость 8,1 г · Договор до 2028»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4114800" cy="56692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121408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4A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21214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Арендатор: кто, сколько лет на точке, тип бизнеса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4114800" cy="56692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779776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4A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" y="27797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Финпараметры: ставка аренды, NOI, Cap Rate, цена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4114800" cy="56692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438144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4A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" y="343814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Объект: площадь, адрес. Фото с живой работой точки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05072"/>
            <a:ext cx="4114800" cy="56692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4096512"/>
            <a:ext cx="384048" cy="38404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4A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" y="40965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FFFFFF"/>
                </a:solidFill>
              </a:rPr>
              <a:t>Призыв к действию</a:t>
            </a:r>
            <a:r>
              <a:rPr lang="en-US" sz="1050" dirty="0">
                <a:solidFill>
                  <a:srgbClr val="FFFFFF"/>
                </a:solidFill>
              </a:rPr>
              <a:t>: «пришлю меморандум — напишите в мессенджер»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960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A84B"/>
                </a:solidFill>
              </a:rPr>
              <a:t>Где искать инвесторов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371600"/>
            <a:ext cx="4069080" cy="530352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14447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▸  База своих клиентов (арендаторы → потенц. инвесторы)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1993392"/>
            <a:ext cx="4069080" cy="530352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206654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▸  Бизнес-клубы и ТПП — выступай с экспертизой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615184"/>
            <a:ext cx="4069080" cy="530352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268833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▸  Telegram-чаты инвесторов — не продавай, экспертируй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236976"/>
            <a:ext cx="4069080" cy="530352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331012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▸  Партнёры: бухгалтеры, юристы, фин. советники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858768"/>
            <a:ext cx="4069080" cy="530352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39319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▸  Продавшие объект — у них есть деньги и задача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4A"/>
                </a:solidFill>
              </a:rPr>
              <a:t>Личный бренд: Telegram-канал о рынке · медиа-комментарии · кейсы сделок · публичные выступления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A84B"/>
                </a:solidFill>
              </a:rPr>
              <a:t>ЧЕКЛИСТ: ГОТОВ ЛИ ОБЪЕКТ К ПРЕЗЕНТАЦИИ ИНВЕСТОРУ?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502920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40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40"/>
                </a:solidFill>
              </a:rPr>
              <a:t>Паспорт объекта заполнен (адрес, площадь, назначение, фото)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00784"/>
            <a:ext cx="502920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007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40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76479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40"/>
                </a:solidFill>
              </a:rPr>
              <a:t>Договор аренды изучен: срок, ставка, индексация, расторжение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14016"/>
            <a:ext cx="502920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1401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40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47802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40"/>
                </a:solidFill>
              </a:rPr>
              <a:t>Арендатор проверен: профиль, финансы, стаж на точке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27248"/>
            <a:ext cx="502920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272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40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19125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40"/>
                </a:solidFill>
              </a:rPr>
              <a:t>Правоустанавливающие документы получены и проверены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40480"/>
            <a:ext cx="502920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40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40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9044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40"/>
                </a:solidFill>
              </a:rPr>
              <a:t>NOI рассчитан корректно (без учёта ипотеки в базовой версии)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987552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87552"/>
            <a:ext cx="502920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8755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40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1051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40"/>
                </a:solidFill>
              </a:rPr>
              <a:t>Cap Rate и окупаемость посчитаны и зафиксированы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700784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700784"/>
            <a:ext cx="502920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7007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40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176479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40"/>
                </a:solidFill>
              </a:rPr>
              <a:t>Альтернативные сценарии (рост/снижение ставки) готовы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414016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414016"/>
            <a:ext cx="502920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41401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40"/>
                </a:solidFill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247802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40"/>
                </a:solidFill>
              </a:rPr>
              <a:t>Инвест-меморандум сформирован в одном документе/папке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127248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127248"/>
            <a:ext cx="502920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1272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40"/>
                </a:solidFill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49240" y="319125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40"/>
                </a:solidFill>
              </a:rPr>
              <a:t>Готов ответ на 5 ключевых возражений инвестора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84048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840480"/>
            <a:ext cx="502920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840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40"/>
                </a:solidFill>
              </a:rPr>
              <a:t>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49240" y="39044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40"/>
                </a:solidFill>
              </a:rPr>
              <a:t>Определена целевая аудитория объекта (профиль инвестора)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D0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РБН · Упаковка объекта под ГАБ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A84B"/>
                </a:solidFill>
              </a:rPr>
              <a:t>Итог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384048" cy="38404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4241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ГАБ — инвестиционный продукт, не просто аренда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70992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Досье и финмодель — обязательный минимум до встречи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3774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Говоришь на языке цифр — инвестор слышит профессионала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384048" cy="38404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04495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Называй риски первым — это строит доверие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94176"/>
            <a:ext cx="384048" cy="38404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A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71246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Сделка — начало отношений, а не финиш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97880" y="2834640"/>
            <a:ext cx="283464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A84B"/>
                </a:solidFill>
              </a:rPr>
              <a:t>Один объект 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8A84B"/>
                </a:solidFill>
              </a:rPr>
              <a:t>пять разных историй.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8A84B"/>
                </a:solidFill>
              </a:rPr>
              <a:t>Меняй язык под логику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8A84B"/>
                </a:solidFill>
              </a:rPr>
              <a:t>инвестора.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320040"/>
            <a:ext cx="3063240" cy="4572000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320040"/>
            <a:ext cx="3063240" cy="47548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200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1A2D4A"/>
                </a:solidFill>
              </a:rPr>
              <a:t>ЗАДАНИЕ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97880" y="91440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A84B"/>
                </a:solidFill>
              </a:rPr>
              <a:t>Через 3 дня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A84B"/>
                </a:solidFill>
              </a:rPr>
              <a:t>каждый приносит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A84B"/>
                </a:solidFill>
              </a:rPr>
              <a:t>упакованный ГАБ.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97880" y="2057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Разбираем публично.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2606040"/>
            <a:ext cx="2514600" cy="0"/>
          </a:xfrm>
          <a:prstGeom prst="line">
            <a:avLst/>
          </a:prstGeom>
          <a:noFill/>
          <a:ln w="9525">
            <a:solidFill>
              <a:srgbClr val="C8A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274320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5A7"/>
                </a:solidFill>
              </a:rPr>
              <a:t>Сформулировать: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95A7"/>
                </a:solidFill>
              </a:rPr>
              <a:t>▸ Почему это ГАБ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95A7"/>
                </a:solidFill>
              </a:rPr>
              <a:t>▸ Доходность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95A7"/>
                </a:solidFill>
              </a:rPr>
              <a:t>▸ 3 сильные стороны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95A7"/>
                </a:solidFill>
              </a:rPr>
              <a:t>▸ 3 риска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95A7"/>
                </a:solidFill>
              </a:rPr>
              <a:t>▸ Тип инвестора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5120640" cy="0"/>
          </a:xfrm>
          <a:prstGeom prst="line">
            <a:avLst/>
          </a:prstGeom>
          <a:noFill/>
          <a:ln w="9525">
            <a:solidFill>
              <a:srgbClr val="C8A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8A84B"/>
                </a:solidFill>
              </a:rPr>
              <a:t>Агент, которому доверяют, не ищет клиентов — клиенты находят его.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1555</Words>
  <Application>Microsoft Office PowerPoint</Application>
  <PresentationFormat>Экран (16:9)</PresentationFormat>
  <Paragraphs>318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Упаковка объекта под ГАБ — расширенная версия</dc:title>
  <dc:subject>PptxGenJS Presentation</dc:subject>
  <dc:creator>PptxGenJS</dc:creator>
  <cp:lastModifiedBy>Евгения Шастина</cp:lastModifiedBy>
  <cp:revision>4</cp:revision>
  <dcterms:created xsi:type="dcterms:W3CDTF">2026-05-18T06:47:29Z</dcterms:created>
  <dcterms:modified xsi:type="dcterms:W3CDTF">2026-05-18T10:15:10Z</dcterms:modified>
</cp:coreProperties>
</file>